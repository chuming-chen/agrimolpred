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7559675" cy="106914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1200" y="151659"/>
            <a:ext cx="7257600" cy="1251191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1920" y="159242"/>
            <a:ext cx="45360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A1A"/>
                </a:solidFill>
                <a:latin typeface="Times New Roman" panose="02020603050405020304"/>
              </a:rPr>
              <a:t>(A)  Dataset curation</a:t>
            </a:r>
            <a:endParaRPr sz="15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41920" y="485310"/>
            <a:ext cx="4536000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7960" y="346314"/>
            <a:ext cx="1398600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Pathogen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0520" y="341234"/>
            <a:ext cx="1058400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Source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98920" y="341234"/>
            <a:ext cx="680400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Unique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9320" y="341234"/>
            <a:ext cx="680400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Positive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59720" y="341234"/>
            <a:ext cx="718200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Negative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41920" y="485310"/>
            <a:ext cx="0" cy="727966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7960" y="566220"/>
            <a:ext cx="13986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1">
                <a:solidFill>
                  <a:srgbClr val="1A1A1A"/>
                </a:solidFill>
                <a:latin typeface="Times New Roman" panose="02020603050405020304"/>
              </a:rPr>
              <a:t>M. oryzae</a:t>
            </a:r>
            <a:endParaRPr sz="1100" b="1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40520" y="561140"/>
            <a:ext cx="1058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Times New Roman" panose="02020603050405020304"/>
              </a:rPr>
              <a:t>ChEMBL+PubChem</a:t>
            </a:r>
            <a:endParaRPr sz="950" b="0" i="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8920" y="561140"/>
            <a:ext cx="680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1,686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79320" y="561140"/>
            <a:ext cx="680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9E73"/>
                </a:solidFill>
                <a:latin typeface="Times New Roman" panose="02020603050405020304"/>
              </a:rPr>
              <a:t>+728</a:t>
            </a:r>
            <a:endParaRPr sz="1100" b="1" i="0">
              <a:solidFill>
                <a:srgbClr val="009E73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59720" y="561140"/>
            <a:ext cx="7182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55E00"/>
                </a:solidFill>
                <a:latin typeface="Times New Roman" panose="02020603050405020304"/>
              </a:rPr>
              <a:t>−958</a:t>
            </a:r>
            <a:endParaRPr sz="11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7960" y="778543"/>
            <a:ext cx="13986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1">
                <a:solidFill>
                  <a:srgbClr val="1A1A1A"/>
                </a:solidFill>
                <a:latin typeface="Times New Roman" panose="02020603050405020304"/>
              </a:rPr>
              <a:t>R. solani</a:t>
            </a:r>
            <a:endParaRPr sz="1100" b="1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0520" y="773463"/>
            <a:ext cx="1058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Times New Roman" panose="02020603050405020304"/>
              </a:rPr>
              <a:t>ChEMBL+PubChem</a:t>
            </a:r>
            <a:endParaRPr sz="950" b="0" i="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98920" y="773463"/>
            <a:ext cx="680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1,749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79320" y="773463"/>
            <a:ext cx="680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9E73"/>
                </a:solidFill>
                <a:latin typeface="Times New Roman" panose="02020603050405020304"/>
              </a:rPr>
              <a:t>+506</a:t>
            </a:r>
            <a:endParaRPr sz="1100" b="1" i="0">
              <a:solidFill>
                <a:srgbClr val="009E73"/>
              </a:solidFill>
              <a:latin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59720" y="773463"/>
            <a:ext cx="7182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55E00"/>
                </a:solidFill>
                <a:latin typeface="Times New Roman" panose="02020603050405020304"/>
              </a:rPr>
              <a:t>−1,243</a:t>
            </a:r>
            <a:endParaRPr sz="11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7960" y="990867"/>
            <a:ext cx="13986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1">
                <a:solidFill>
                  <a:srgbClr val="1A1A1A"/>
                </a:solidFill>
                <a:latin typeface="Times New Roman" panose="02020603050405020304"/>
              </a:rPr>
              <a:t>C. lunata+B. oryzae</a:t>
            </a:r>
            <a:endParaRPr sz="1100" b="1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40520" y="985787"/>
            <a:ext cx="1058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Times New Roman" panose="02020603050405020304"/>
              </a:rPr>
              <a:t>ChEMBL</a:t>
            </a:r>
            <a:endParaRPr sz="950" b="0" i="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8920" y="985787"/>
            <a:ext cx="680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661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79320" y="985787"/>
            <a:ext cx="6804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9E73"/>
                </a:solidFill>
                <a:latin typeface="Times New Roman" panose="02020603050405020304"/>
              </a:rPr>
              <a:t>+246</a:t>
            </a:r>
            <a:endParaRPr sz="1100" b="1" i="0">
              <a:solidFill>
                <a:srgbClr val="009E73"/>
              </a:solidFill>
              <a:latin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59720" y="985787"/>
            <a:ext cx="718200" cy="1971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55E00"/>
                </a:solidFill>
                <a:latin typeface="Times New Roman" panose="02020603050405020304"/>
              </a:rPr>
              <a:t>−415</a:t>
            </a:r>
            <a:endParaRPr sz="11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241920" y="1213276"/>
            <a:ext cx="4536000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77920" y="485310"/>
            <a:ext cx="0" cy="727966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951800" y="485310"/>
            <a:ext cx="2305800" cy="879625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51800" y="485310"/>
            <a:ext cx="2305800" cy="166825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9600" y="485310"/>
            <a:ext cx="22302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Curation rules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12279" y="674885"/>
            <a:ext cx="2184840" cy="682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20" b="0" i="0">
                <a:solidFill>
                  <a:srgbClr val="1A1A1A"/>
                </a:solidFill>
                <a:latin typeface="Times New Roman" panose="02020603050405020304"/>
              </a:rPr>
              <a:t>assay-level whole-cell labels; positive &amp; negative from the same library (organism &amp; database); no generic or cross-species strains; balanced 1:1; no MIC / IC50 regression</a:t>
            </a:r>
            <a:endParaRPr sz="92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51200" y="1478680"/>
            <a:ext cx="7257600" cy="5497659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1920" y="1493846"/>
            <a:ext cx="45360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A1A"/>
                </a:solidFill>
                <a:latin typeface="Times New Roman" panose="02020603050405020304"/>
              </a:rPr>
              <a:t>(B)  AgriMolPred framework</a:t>
            </a:r>
            <a:endParaRPr sz="14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940810" y="1524671"/>
            <a:ext cx="1965600" cy="11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1A1A"/>
                </a:solidFill>
                <a:latin typeface="Times New Roman" panose="02020603050405020304"/>
              </a:rPr>
              <a:t>Input molecule</a:t>
            </a:r>
            <a:endParaRPr sz="12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40810" y="1682865"/>
            <a:ext cx="1965600" cy="1061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95959"/>
                </a:solidFill>
                <a:latin typeface="Times New Roman" panose="02020603050405020304"/>
              </a:rPr>
              <a:t>canonical SMILES</a:t>
            </a:r>
            <a:endParaRPr sz="1050" b="0" i="1">
              <a:solidFill>
                <a:srgbClr val="595959"/>
              </a:solidFill>
              <a:latin typeface="Times New Roman" panose="02020603050405020304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1323000" y="1986740"/>
            <a:ext cx="0" cy="30332"/>
          </a:xfrm>
          <a:prstGeom prst="line">
            <a:avLst/>
          </a:prstGeom>
          <a:ln w="1397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780000" y="1986740"/>
            <a:ext cx="0" cy="30332"/>
          </a:xfrm>
          <a:prstGeom prst="line">
            <a:avLst/>
          </a:prstGeom>
          <a:ln w="1397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237000" y="1986740"/>
            <a:ext cx="0" cy="30332"/>
          </a:xfrm>
          <a:prstGeom prst="line">
            <a:avLst/>
          </a:prstGeom>
          <a:ln w="1397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64600" y="2017072"/>
            <a:ext cx="2116800" cy="1000953"/>
          </a:xfrm>
          <a:prstGeom prst="rect">
            <a:avLst/>
          </a:prstGeom>
          <a:solidFill>
            <a:srgbClr val="FFFFFF"/>
          </a:solidFill>
          <a:ln w="1651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4600" y="2017072"/>
            <a:ext cx="2116800" cy="166825"/>
          </a:xfrm>
          <a:prstGeom prst="rect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2400" y="2017072"/>
            <a:ext cx="20412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1D · Sequence encoders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31239" y="2032238"/>
            <a:ext cx="619919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FFFFFF"/>
                </a:solidFill>
                <a:latin typeface="Times New Roman" panose="02020603050405020304"/>
              </a:rPr>
              <a:t>frozen</a:t>
            </a:r>
            <a:endParaRPr sz="800" b="0" i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721600" y="2017072"/>
            <a:ext cx="2116800" cy="1000953"/>
          </a:xfrm>
          <a:prstGeom prst="rect">
            <a:avLst/>
          </a:prstGeom>
          <a:solidFill>
            <a:srgbClr val="FFFFFF"/>
          </a:solidFill>
          <a:ln w="1651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21600" y="2017072"/>
            <a:ext cx="2116800" cy="166825"/>
          </a:xfrm>
          <a:prstGeom prst="rect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59400" y="2017072"/>
            <a:ext cx="20412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2D · Graph encoders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88239" y="2032238"/>
            <a:ext cx="619919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FFFFFF"/>
                </a:solidFill>
                <a:latin typeface="Times New Roman" panose="02020603050405020304"/>
              </a:rPr>
              <a:t>frozen</a:t>
            </a:r>
            <a:endParaRPr sz="800" b="0" i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178600" y="2017072"/>
            <a:ext cx="2116800" cy="1000953"/>
          </a:xfrm>
          <a:prstGeom prst="rect">
            <a:avLst/>
          </a:prstGeom>
          <a:solidFill>
            <a:srgbClr val="FFFFFF"/>
          </a:solidFill>
          <a:ln w="1651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78600" y="2017072"/>
            <a:ext cx="2116800" cy="166825"/>
          </a:xfrm>
          <a:prstGeom prst="rect">
            <a:avLst/>
          </a:prstGeom>
          <a:solidFill>
            <a:srgbClr val="D55E00"/>
          </a:solidFill>
          <a:ln w="1016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6400" y="2017072"/>
            <a:ext cx="20412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3D · Conformer encoder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645240" y="2032238"/>
            <a:ext cx="619919" cy="1364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1">
                <a:solidFill>
                  <a:srgbClr val="FFFFFF"/>
                </a:solidFill>
                <a:latin typeface="Times New Roman" panose="02020603050405020304"/>
              </a:rPr>
              <a:t>frozen</a:t>
            </a:r>
            <a:endParaRPr sz="800" b="0" i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85560" y="2221812"/>
            <a:ext cx="1874880" cy="216114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72B2"/>
                </a:solidFill>
                <a:latin typeface="Times New Roman" panose="02020603050405020304"/>
              </a:rPr>
              <a:t>ChemBERTa-2</a:t>
            </a:r>
            <a:endParaRPr sz="115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85560" y="2472051"/>
            <a:ext cx="1874880" cy="216114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72B2"/>
                </a:solidFill>
                <a:latin typeface="Times New Roman" panose="02020603050405020304"/>
              </a:rPr>
              <a:t>SmolBERT</a:t>
            </a:r>
            <a:endParaRPr sz="115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85560" y="2722289"/>
            <a:ext cx="1874880" cy="216114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72B2"/>
                </a:solidFill>
                <a:latin typeface="Times New Roman" panose="02020603050405020304"/>
              </a:rPr>
              <a:t>MolFormer</a:t>
            </a:r>
            <a:endParaRPr sz="115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842560" y="2236978"/>
            <a:ext cx="1874880" cy="272987"/>
          </a:xfrm>
          <a:prstGeom prst="rect">
            <a:avLst/>
          </a:prstGeom>
          <a:solidFill>
            <a:srgbClr val="FFFFFF"/>
          </a:solidFill>
          <a:ln w="1524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9E73"/>
                </a:solidFill>
                <a:latin typeface="Times New Roman" panose="02020603050405020304"/>
              </a:rPr>
              <a:t>MolBERT</a:t>
            </a:r>
            <a:endParaRPr sz="1200" b="1" i="0">
              <a:solidFill>
                <a:srgbClr val="009E73"/>
              </a:solidFill>
              <a:latin typeface="Times New Roman" panose="020206030504050203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842560" y="2555463"/>
            <a:ext cx="1874880" cy="272987"/>
          </a:xfrm>
          <a:prstGeom prst="rect">
            <a:avLst/>
          </a:prstGeom>
          <a:solidFill>
            <a:srgbClr val="FFFFFF"/>
          </a:solidFill>
          <a:ln w="1524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09E73"/>
                </a:solidFill>
                <a:latin typeface="Times New Roman" panose="02020603050405020304"/>
              </a:rPr>
              <a:t>MolCLR</a:t>
            </a:r>
            <a:endParaRPr sz="1200" b="1" i="0">
              <a:solidFill>
                <a:srgbClr val="009E73"/>
              </a:solidFill>
              <a:latin typeface="Times New Roman" panose="020206030504050203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299710" y="2221865"/>
            <a:ext cx="1875155" cy="333375"/>
          </a:xfrm>
          <a:prstGeom prst="rect">
            <a:avLst/>
          </a:prstGeom>
          <a:solidFill>
            <a:srgbClr val="FFFFFF"/>
          </a:solidFill>
          <a:ln w="1524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D55E00"/>
                </a:solidFill>
                <a:latin typeface="Times New Roman" panose="02020603050405020304"/>
              </a:rPr>
              <a:t>3D foundation model </a:t>
            </a:r>
            <a:endParaRPr sz="950" b="1" i="0">
              <a:solidFill>
                <a:srgbClr val="D55E00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D55E00"/>
                </a:solidFill>
                <a:latin typeface="Times New Roman" panose="02020603050405020304"/>
              </a:rPr>
              <a:t>(Uni-Mol / 3D-MoLM)</a:t>
            </a:r>
            <a:endParaRPr sz="95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pic>
        <p:nvPicPr>
          <p:cNvPr id="60" name="Picture 59" descr="conf3d_deep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64530" y="2612390"/>
            <a:ext cx="770890" cy="52324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096200" y="3021817"/>
            <a:ext cx="453600" cy="11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72B2"/>
                </a:solidFill>
                <a:latin typeface="Times New Roman" panose="02020603050405020304"/>
              </a:rPr>
              <a:t>h₁</a:t>
            </a:r>
            <a:endParaRPr sz="110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553200" y="3021817"/>
            <a:ext cx="453600" cy="11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9E73"/>
                </a:solidFill>
                <a:latin typeface="Times New Roman" panose="02020603050405020304"/>
              </a:rPr>
              <a:t>h₂</a:t>
            </a:r>
            <a:endParaRPr sz="1100" b="1" i="0">
              <a:solidFill>
                <a:srgbClr val="009E73"/>
              </a:solidFill>
              <a:latin typeface="Times New Roman" panose="020206030504050203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10200" y="3021817"/>
            <a:ext cx="453600" cy="11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D55E00"/>
                </a:solidFill>
                <a:latin typeface="Times New Roman" panose="02020603050405020304"/>
              </a:rPr>
              <a:t>h₃</a:t>
            </a:r>
            <a:endParaRPr sz="11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64795" y="3063240"/>
            <a:ext cx="1020445" cy="3644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Times New Roman" panose="02020603050405020304"/>
              </a:rPr>
              <a:t>Stage 1</a:t>
            </a:r>
            <a:endParaRPr sz="950" b="1" i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Times New Roman" panose="02020603050405020304"/>
              </a:rPr>
              <a:t>pairwise cross-attention</a:t>
            </a:r>
            <a:endParaRPr sz="9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1323000" y="3018025"/>
            <a:ext cx="604800" cy="212323"/>
          </a:xfrm>
          <a:prstGeom prst="line">
            <a:avLst/>
          </a:prstGeom>
          <a:ln w="19050">
            <a:solidFill>
              <a:srgbClr val="0072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3175200" y="3018025"/>
            <a:ext cx="604800" cy="212323"/>
          </a:xfrm>
          <a:prstGeom prst="line">
            <a:avLst/>
          </a:prstGeom>
          <a:ln w="19050">
            <a:solidFill>
              <a:srgbClr val="009E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780000" y="3018025"/>
            <a:ext cx="604800" cy="212323"/>
          </a:xfrm>
          <a:prstGeom prst="line">
            <a:avLst/>
          </a:prstGeom>
          <a:ln w="19050">
            <a:solidFill>
              <a:srgbClr val="009E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5670000" y="3018025"/>
            <a:ext cx="567000" cy="212323"/>
          </a:xfrm>
          <a:prstGeom prst="line">
            <a:avLst/>
          </a:prstGeom>
          <a:ln w="1905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1398600" y="3230348"/>
            <a:ext cx="2268000" cy="834127"/>
          </a:xfrm>
          <a:prstGeom prst="rect">
            <a:avLst/>
          </a:prstGeom>
          <a:solidFill>
            <a:srgbClr val="FFFFFF"/>
          </a:solidFill>
          <a:ln w="1651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398600" y="3230348"/>
            <a:ext cx="2268000" cy="166825"/>
          </a:xfrm>
          <a:prstGeom prst="rect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36400" y="3230348"/>
            <a:ext cx="21924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1D × 2D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474200" y="3419923"/>
            <a:ext cx="4158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72B2"/>
                </a:solidFill>
                <a:latin typeface="Times New Roman" panose="02020603050405020304"/>
              </a:rPr>
              <a:t>1D</a:t>
            </a:r>
            <a:endParaRPr sz="100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175200" y="3419923"/>
            <a:ext cx="4158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72B2"/>
                </a:solidFill>
                <a:latin typeface="Times New Roman" panose="02020603050405020304"/>
              </a:rPr>
              <a:t>2D</a:t>
            </a:r>
            <a:endParaRPr sz="100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852200" y="3427506"/>
            <a:ext cx="1360800" cy="1440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Q  ←  K, V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549800" y="3594331"/>
            <a:ext cx="1965600" cy="181991"/>
          </a:xfrm>
          <a:prstGeom prst="rect">
            <a:avLst/>
          </a:prstGeom>
          <a:solidFill>
            <a:srgbClr val="FFFFFF"/>
          </a:solidFill>
          <a:ln w="1397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72B2"/>
                </a:solidFill>
                <a:latin typeface="Times New Roman" panose="02020603050405020304"/>
              </a:rPr>
              <a:t>multi-head cross-attention</a:t>
            </a:r>
            <a:endParaRPr sz="100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549800" y="3791489"/>
            <a:ext cx="1965600" cy="151659"/>
          </a:xfrm>
          <a:prstGeom prst="rect">
            <a:avLst/>
          </a:prstGeom>
          <a:solidFill>
            <a:srgbClr val="F4F4F4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Times New Roman" panose="02020603050405020304"/>
              </a:rPr>
              <a:t>Add &amp; Norm · sigmoid gate</a:t>
            </a:r>
            <a:endParaRPr sz="950" b="0" i="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116800" y="4087225"/>
            <a:ext cx="831600" cy="136493"/>
          </a:xfrm>
          <a:prstGeom prst="rect">
            <a:avLst/>
          </a:prstGeom>
          <a:solidFill>
            <a:srgbClr val="FFFFFF"/>
          </a:solidFill>
          <a:ln w="1524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72B2"/>
                </a:solidFill>
                <a:latin typeface="Times New Roman" panose="02020603050405020304"/>
              </a:rPr>
              <a:t>f₁₂</a:t>
            </a:r>
            <a:endParaRPr sz="105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3893400" y="3230348"/>
            <a:ext cx="2268000" cy="834127"/>
          </a:xfrm>
          <a:prstGeom prst="rect">
            <a:avLst/>
          </a:prstGeom>
          <a:solidFill>
            <a:srgbClr val="FFFFFF"/>
          </a:solidFill>
          <a:ln w="1651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893400" y="3230348"/>
            <a:ext cx="2268000" cy="166825"/>
          </a:xfrm>
          <a:prstGeom prst="rect">
            <a:avLst/>
          </a:prstGeom>
          <a:solidFill>
            <a:srgbClr val="D55E00"/>
          </a:solidFill>
          <a:ln w="1016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200" y="3230348"/>
            <a:ext cx="21924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2D × 3D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969000" y="3419923"/>
            <a:ext cx="4158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55E00"/>
                </a:solidFill>
                <a:latin typeface="Times New Roman" panose="02020603050405020304"/>
              </a:rPr>
              <a:t>2D</a:t>
            </a:r>
            <a:endParaRPr sz="10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670000" y="3419923"/>
            <a:ext cx="4158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55E00"/>
                </a:solidFill>
                <a:latin typeface="Times New Roman" panose="02020603050405020304"/>
              </a:rPr>
              <a:t>3D</a:t>
            </a:r>
            <a:endParaRPr sz="10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347000" y="3427506"/>
            <a:ext cx="1360800" cy="1440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Q  ←  K, V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4044600" y="3594331"/>
            <a:ext cx="1965600" cy="181991"/>
          </a:xfrm>
          <a:prstGeom prst="rect">
            <a:avLst/>
          </a:prstGeom>
          <a:solidFill>
            <a:srgbClr val="FFFFFF"/>
          </a:solidFill>
          <a:ln w="1397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55E00"/>
                </a:solidFill>
                <a:latin typeface="Times New Roman" panose="02020603050405020304"/>
              </a:rPr>
              <a:t>multi-head cross-attention</a:t>
            </a:r>
            <a:endParaRPr sz="10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044600" y="3791489"/>
            <a:ext cx="1965600" cy="151659"/>
          </a:xfrm>
          <a:prstGeom prst="rect">
            <a:avLst/>
          </a:prstGeom>
          <a:solidFill>
            <a:srgbClr val="F4F4F4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95959"/>
                </a:solidFill>
                <a:latin typeface="Times New Roman" panose="02020603050405020304"/>
              </a:rPr>
              <a:t>Add &amp; Norm · sigmoid gate</a:t>
            </a:r>
            <a:endParaRPr sz="950" b="0" i="0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611600" y="4087225"/>
            <a:ext cx="831600" cy="136493"/>
          </a:xfrm>
          <a:prstGeom prst="rect">
            <a:avLst/>
          </a:prstGeom>
          <a:solidFill>
            <a:srgbClr val="FFFFFF"/>
          </a:solidFill>
          <a:ln w="1524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55E00"/>
                </a:solidFill>
                <a:latin typeface="Times New Roman" panose="02020603050405020304"/>
              </a:rPr>
              <a:t>f₂₃</a:t>
            </a:r>
            <a:endParaRPr sz="105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64600" y="4398127"/>
            <a:ext cx="1058400" cy="3488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Times New Roman" panose="02020603050405020304"/>
              </a:rPr>
              <a:t>Stage 2</a:t>
            </a:r>
            <a:endParaRPr sz="950" b="1" i="0">
              <a:solidFill>
                <a:srgbClr val="1A1A1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Times New Roman" panose="02020603050405020304"/>
              </a:rPr>
              <a:t>cross-again</a:t>
            </a:r>
            <a:endParaRPr sz="9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2532600" y="4223719"/>
            <a:ext cx="793800" cy="159242"/>
          </a:xfrm>
          <a:prstGeom prst="line">
            <a:avLst/>
          </a:prstGeom>
          <a:ln w="20320">
            <a:solidFill>
              <a:srgbClr val="0072B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4233600" y="4223719"/>
            <a:ext cx="793800" cy="159242"/>
          </a:xfrm>
          <a:prstGeom prst="line">
            <a:avLst/>
          </a:prstGeom>
          <a:ln w="20320">
            <a:solidFill>
              <a:srgbClr val="D55E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2192400" y="4382961"/>
            <a:ext cx="3175200" cy="379148"/>
          </a:xfrm>
          <a:prstGeom prst="rect">
            <a:avLst/>
          </a:prstGeom>
          <a:solidFill>
            <a:srgbClr val="FFFFFF"/>
          </a:solidFill>
          <a:ln w="1778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192400" y="4382961"/>
            <a:ext cx="3175200" cy="151659"/>
          </a:xfrm>
          <a:prstGeom prst="rect">
            <a:avLst/>
          </a:prstGeom>
          <a:solidFill>
            <a:srgbClr val="404040"/>
          </a:solidFill>
          <a:ln w="1016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30200" y="4382961"/>
            <a:ext cx="30996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gated cross-fusion   f₁₂ × f₂₃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2343600" y="4564953"/>
            <a:ext cx="1398600" cy="15924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72B2"/>
                </a:solidFill>
                <a:latin typeface="Times New Roman" panose="02020603050405020304"/>
              </a:rPr>
              <a:t>multi-head cross-attn</a:t>
            </a:r>
            <a:endParaRPr sz="950" b="1" i="0">
              <a:solidFill>
                <a:srgbClr val="0072B2"/>
              </a:solidFill>
              <a:latin typeface="Times New Roman" panose="02020603050405020304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817800" y="4564953"/>
            <a:ext cx="1398600" cy="159242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Times New Roman" panose="02020603050405020304"/>
              </a:rPr>
              <a:t>sigmoid gate</a:t>
            </a:r>
            <a:endParaRPr sz="950" b="1" i="0">
              <a:solidFill>
                <a:srgbClr val="595959"/>
              </a:solidFill>
              <a:latin typeface="Times New Roman" panose="02020603050405020304"/>
            </a:endParaRPr>
          </a:p>
        </p:txBody>
      </p:sp>
      <p:cxnSp>
        <p:nvCxnSpPr>
          <p:cNvPr id="95" name="Connector 94"/>
          <p:cNvCxnSpPr/>
          <p:nvPr/>
        </p:nvCxnSpPr>
        <p:spPr>
          <a:xfrm>
            <a:off x="3780000" y="4762110"/>
            <a:ext cx="0" cy="37915"/>
          </a:xfrm>
          <a:prstGeom prst="line">
            <a:avLst/>
          </a:prstGeom>
          <a:ln w="21590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137535" y="4777105"/>
            <a:ext cx="1285240" cy="174625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7000" rIns="36000" bIns="7000" rtlCol="0" anchor="ctr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Times New Roman" panose="02020603050405020304"/>
              </a:rPr>
              <a:t>unified embedding  </a:t>
            </a:r>
            <a:endParaRPr sz="11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505760" y="4792442"/>
            <a:ext cx="937440" cy="174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A1A1A"/>
                </a:solidFill>
                <a:latin typeface="Times New Roman" panose="02020603050405020304"/>
              </a:rPr>
              <a:t>Stage 3</a:t>
            </a:r>
            <a:endParaRPr sz="900" b="1" i="0">
              <a:solidFill>
                <a:srgbClr val="1A1A1A"/>
              </a:solidFill>
              <a:latin typeface="Times New Roman" panose="02020603050405020304"/>
            </a:endParaRPr>
          </a:p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1A1A1A"/>
                </a:solidFill>
                <a:latin typeface="Times New Roman" panose="02020603050405020304"/>
              </a:rPr>
              <a:t>capsule classifier</a:t>
            </a:r>
            <a:endParaRPr sz="9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3780000" y="4951685"/>
            <a:ext cx="0" cy="83412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869400" y="5035097"/>
            <a:ext cx="2910600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69400" y="5035097"/>
            <a:ext cx="0" cy="45498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02400" y="5080595"/>
            <a:ext cx="1134000" cy="1099531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02400" y="5080595"/>
            <a:ext cx="1134000" cy="151659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0200" y="5080595"/>
            <a:ext cx="10584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PrimaryCaps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408240" y="5368748"/>
            <a:ext cx="415800" cy="2199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08240" y="5368748"/>
            <a:ext cx="415800" cy="219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p1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914760" y="5368748"/>
            <a:ext cx="415800" cy="2199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14760" y="5368748"/>
            <a:ext cx="415800" cy="219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p2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408240" y="5618987"/>
            <a:ext cx="415800" cy="2199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08240" y="5618987"/>
            <a:ext cx="415800" cy="219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p3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914760" y="5618987"/>
            <a:ext cx="415800" cy="2199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4760" y="5618987"/>
            <a:ext cx="415800" cy="219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p4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13" name="Rounded Rectangle 112"/>
          <p:cNvSpPr/>
          <p:nvPr/>
        </p:nvSpPr>
        <p:spPr>
          <a:xfrm>
            <a:off x="408240" y="5869225"/>
            <a:ext cx="415800" cy="2199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8240" y="5869225"/>
            <a:ext cx="415800" cy="219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p5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914760" y="5869225"/>
            <a:ext cx="415800" cy="2199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4760" y="5869225"/>
            <a:ext cx="415800" cy="2199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Times New Roman" panose="02020603050405020304"/>
              </a:rPr>
              <a:t>p6</a:t>
            </a:r>
            <a:endParaRPr sz="105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1587600" y="5080595"/>
            <a:ext cx="1360800" cy="1099531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587600" y="5080595"/>
            <a:ext cx="1360800" cy="151659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5400" y="5080595"/>
            <a:ext cx="12852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dynamic routing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1753919" y="5376331"/>
            <a:ext cx="302400" cy="79621"/>
          </a:xfrm>
          <a:prstGeom prst="rect">
            <a:avLst/>
          </a:prstGeom>
          <a:solidFill>
            <a:srgbClr val="B9B9B9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101680" y="5376331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449440" y="5376331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753919" y="5486285"/>
            <a:ext cx="302400" cy="79621"/>
          </a:xfrm>
          <a:prstGeom prst="rect">
            <a:avLst/>
          </a:prstGeom>
          <a:solidFill>
            <a:srgbClr val="B9B9B9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101680" y="5486285"/>
            <a:ext cx="302400" cy="79621"/>
          </a:xfrm>
          <a:prstGeom prst="rect">
            <a:avLst/>
          </a:prstGeom>
          <a:solidFill>
            <a:srgbClr val="878787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449440" y="5486285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753919" y="5596238"/>
            <a:ext cx="302400" cy="79621"/>
          </a:xfrm>
          <a:prstGeom prst="rect">
            <a:avLst/>
          </a:prstGeom>
          <a:solidFill>
            <a:srgbClr val="878787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101680" y="5596238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449440" y="5596238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753919" y="5706191"/>
            <a:ext cx="302400" cy="79621"/>
          </a:xfrm>
          <a:prstGeom prst="rect">
            <a:avLst/>
          </a:prstGeom>
          <a:solidFill>
            <a:srgbClr val="B9B9B9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101680" y="5706191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449440" y="5706191"/>
            <a:ext cx="302400" cy="79621"/>
          </a:xfrm>
          <a:prstGeom prst="rect">
            <a:avLst/>
          </a:prstGeom>
          <a:solidFill>
            <a:srgbClr val="B9B9B9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753919" y="5816144"/>
            <a:ext cx="302400" cy="79621"/>
          </a:xfrm>
          <a:prstGeom prst="rect">
            <a:avLst/>
          </a:prstGeom>
          <a:solidFill>
            <a:srgbClr val="878787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101680" y="5816144"/>
            <a:ext cx="302400" cy="79621"/>
          </a:xfrm>
          <a:prstGeom prst="rect">
            <a:avLst/>
          </a:prstGeom>
          <a:solidFill>
            <a:srgbClr val="878787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449440" y="5816144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753919" y="5926097"/>
            <a:ext cx="302400" cy="79621"/>
          </a:xfrm>
          <a:prstGeom prst="rect">
            <a:avLst/>
          </a:prstGeom>
          <a:solidFill>
            <a:srgbClr val="B9B9B9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101680" y="5926097"/>
            <a:ext cx="302400" cy="79621"/>
          </a:xfrm>
          <a:prstGeom prst="rect">
            <a:avLst/>
          </a:prstGeom>
          <a:solidFill>
            <a:srgbClr val="B9B9B9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449440" y="5926097"/>
            <a:ext cx="302400" cy="79621"/>
          </a:xfrm>
          <a:prstGeom prst="rect">
            <a:avLst/>
          </a:prstGeom>
          <a:solidFill>
            <a:srgbClr val="555555"/>
          </a:solidFill>
          <a:ln w="508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099600" y="5080595"/>
            <a:ext cx="2268000" cy="1099531"/>
          </a:xfrm>
          <a:prstGeom prst="rect">
            <a:avLst/>
          </a:prstGeom>
          <a:solidFill>
            <a:srgbClr val="FFFFFF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099600" y="5080595"/>
            <a:ext cx="2268000" cy="151659"/>
          </a:xfrm>
          <a:prstGeom prst="rect">
            <a:avLst/>
          </a:prstGeom>
          <a:solidFill>
            <a:srgbClr val="1A1A1A"/>
          </a:solidFill>
          <a:ln w="1016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137400" y="5080595"/>
            <a:ext cx="21924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Times New Roman" panose="02020603050405020304"/>
              </a:rPr>
              <a:t>ClassCaps (one binary head each)</a:t>
            </a:r>
            <a:endParaRPr sz="100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3099600" y="5255004"/>
            <a:ext cx="756000" cy="181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88000"/>
              </a:lnSpc>
            </a:pPr>
            <a:r>
              <a:rPr sz="850" b="1" i="1">
                <a:solidFill>
                  <a:srgbClr val="1A1A1A"/>
                </a:solidFill>
                <a:latin typeface="Times New Roman" panose="02020603050405020304"/>
              </a:rPr>
              <a:t>M. oryzae</a:t>
            </a:r>
            <a:endParaRPr sz="850" b="1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190320" y="5501186"/>
            <a:ext cx="574560" cy="235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190320" y="5501186"/>
            <a:ext cx="574560" cy="235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55E00"/>
                </a:solidFill>
                <a:latin typeface="Times New Roman" panose="02020603050405020304"/>
              </a:rPr>
              <a:t>active</a:t>
            </a:r>
            <a:endParaRPr sz="10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146" name="Rounded Rectangle 145"/>
          <p:cNvSpPr/>
          <p:nvPr/>
        </p:nvSpPr>
        <p:spPr>
          <a:xfrm>
            <a:off x="3190320" y="5770382"/>
            <a:ext cx="574560" cy="235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90320" y="5770382"/>
            <a:ext cx="574560" cy="235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95959"/>
                </a:solidFill>
                <a:latin typeface="Times New Roman" panose="02020603050405020304"/>
              </a:rPr>
              <a:t>inactive</a:t>
            </a:r>
            <a:endParaRPr sz="1000" b="1" i="0">
              <a:solidFill>
                <a:srgbClr val="595959"/>
              </a:solidFill>
              <a:latin typeface="Times New Roman" panose="02020603050405020304"/>
            </a:endParaRPr>
          </a:p>
        </p:txBody>
      </p:sp>
      <p:cxnSp>
        <p:nvCxnSpPr>
          <p:cNvPr id="148" name="Connector 147"/>
          <p:cNvCxnSpPr/>
          <p:nvPr/>
        </p:nvCxnSpPr>
        <p:spPr>
          <a:xfrm>
            <a:off x="3855600" y="5277753"/>
            <a:ext cx="0" cy="727710"/>
          </a:xfrm>
          <a:prstGeom prst="line">
            <a:avLst/>
          </a:prstGeom>
          <a:ln w="762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3855600" y="5255004"/>
            <a:ext cx="756000" cy="181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88000"/>
              </a:lnSpc>
            </a:pPr>
            <a:r>
              <a:rPr sz="850" b="1" i="1">
                <a:solidFill>
                  <a:srgbClr val="1A1A1A"/>
                </a:solidFill>
                <a:latin typeface="Times New Roman" panose="02020603050405020304"/>
              </a:rPr>
              <a:t>R. solani</a:t>
            </a:r>
            <a:endParaRPr sz="850" b="1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3945685" y="5501186"/>
            <a:ext cx="574560" cy="235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946320" y="5501821"/>
            <a:ext cx="574560" cy="235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55E00"/>
                </a:solidFill>
                <a:latin typeface="Times New Roman" panose="02020603050405020304"/>
              </a:rPr>
              <a:t>active</a:t>
            </a:r>
            <a:endParaRPr sz="10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945685" y="5770382"/>
            <a:ext cx="574560" cy="235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946320" y="5771017"/>
            <a:ext cx="574560" cy="235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95959"/>
                </a:solidFill>
                <a:latin typeface="Times New Roman" panose="02020603050405020304"/>
              </a:rPr>
              <a:t>inactive</a:t>
            </a:r>
            <a:endParaRPr sz="1000" b="1" i="0">
              <a:solidFill>
                <a:srgbClr val="595959"/>
              </a:solidFill>
              <a:latin typeface="Times New Roman" panose="02020603050405020304"/>
            </a:endParaRPr>
          </a:p>
        </p:txBody>
      </p:sp>
      <p:cxnSp>
        <p:nvCxnSpPr>
          <p:cNvPr id="154" name="Connector 153"/>
          <p:cNvCxnSpPr/>
          <p:nvPr/>
        </p:nvCxnSpPr>
        <p:spPr>
          <a:xfrm>
            <a:off x="4611600" y="5277753"/>
            <a:ext cx="0" cy="727710"/>
          </a:xfrm>
          <a:prstGeom prst="line">
            <a:avLst/>
          </a:prstGeom>
          <a:ln w="7620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4611600" y="5255512"/>
            <a:ext cx="756000" cy="229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88000"/>
              </a:lnSpc>
            </a:pPr>
            <a:r>
              <a:rPr sz="850" b="1" i="1">
                <a:solidFill>
                  <a:srgbClr val="1A1A1A"/>
                </a:solidFill>
                <a:latin typeface="Times New Roman" panose="02020603050405020304"/>
              </a:rPr>
              <a:t>C. lunata /</a:t>
            </a:r>
            <a:endParaRPr sz="850" b="1" i="1">
              <a:solidFill>
                <a:srgbClr val="1A1A1A"/>
              </a:solidFill>
              <a:latin typeface="Times New Roman" panose="02020603050405020304"/>
            </a:endParaRPr>
          </a:p>
          <a:p>
            <a:pPr algn="ctr">
              <a:lnSpc>
                <a:spcPct val="88000"/>
              </a:lnSpc>
            </a:pPr>
            <a:r>
              <a:rPr sz="850" b="1" i="1">
                <a:solidFill>
                  <a:srgbClr val="1A1A1A"/>
                </a:solidFill>
                <a:latin typeface="Times New Roman" panose="02020603050405020304"/>
              </a:rPr>
              <a:t>B. oryzae</a:t>
            </a:r>
            <a:endParaRPr sz="850" b="1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4702320" y="5501186"/>
            <a:ext cx="574560" cy="235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702320" y="5501186"/>
            <a:ext cx="574560" cy="235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55E00"/>
                </a:solidFill>
                <a:latin typeface="Times New Roman" panose="02020603050405020304"/>
              </a:rPr>
              <a:t>active</a:t>
            </a:r>
            <a:endParaRPr sz="100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158" name="Rounded Rectangle 157"/>
          <p:cNvSpPr/>
          <p:nvPr/>
        </p:nvSpPr>
        <p:spPr>
          <a:xfrm>
            <a:off x="4702320" y="5770382"/>
            <a:ext cx="574560" cy="2350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702320" y="5770382"/>
            <a:ext cx="574560" cy="2350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95959"/>
                </a:solidFill>
                <a:latin typeface="Times New Roman" panose="02020603050405020304"/>
              </a:rPr>
              <a:t>inactive</a:t>
            </a:r>
            <a:endParaRPr sz="1000" b="1" i="0">
              <a:solidFill>
                <a:srgbClr val="595959"/>
              </a:solidFill>
              <a:latin typeface="Times New Roman" panose="02020603050405020304"/>
            </a:endParaRPr>
          </a:p>
        </p:txBody>
      </p:sp>
      <p:cxnSp>
        <p:nvCxnSpPr>
          <p:cNvPr id="161" name="Connector 160"/>
          <p:cNvCxnSpPr/>
          <p:nvPr/>
        </p:nvCxnSpPr>
        <p:spPr>
          <a:xfrm>
            <a:off x="1436400" y="5626570"/>
            <a:ext cx="151200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2948400" y="5626570"/>
            <a:ext cx="151200" cy="0"/>
          </a:xfrm>
          <a:prstGeom prst="line">
            <a:avLst/>
          </a:prstGeom>
          <a:ln w="17780">
            <a:solidFill>
              <a:srgbClr val="1A1A1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302400" y="6187710"/>
            <a:ext cx="5065200" cy="189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1A1A1A"/>
                </a:solidFill>
                <a:latin typeface="Times New Roman" panose="02020603050405020304"/>
              </a:rPr>
              <a:t>Why capsules: vectors retain substructure identity; iterative routing aggregates parts → whole by agreement, more robust than scalar neurons with max-pooling.</a:t>
            </a:r>
            <a:endParaRPr sz="900" b="0" i="1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5518785" y="5005070"/>
            <a:ext cx="1738630" cy="1371600"/>
          </a:xfrm>
          <a:prstGeom prst="rect">
            <a:avLst/>
          </a:prstGeom>
          <a:solidFill>
            <a:srgbClr val="FFFFFF"/>
          </a:solidFill>
          <a:ln w="1651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518800" y="5004765"/>
            <a:ext cx="1738800" cy="151659"/>
          </a:xfrm>
          <a:prstGeom prst="rect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556600" y="5004765"/>
            <a:ext cx="16632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Times New Roman" panose="02020603050405020304"/>
              </a:rPr>
              <a:t>SHAP interpretation</a:t>
            </a:r>
            <a:endParaRPr sz="105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pic>
        <p:nvPicPr>
          <p:cNvPr id="167" name="Picture 166" descr="rep_cont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720" y="5171591"/>
            <a:ext cx="1632960" cy="796212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5564160" y="5975387"/>
            <a:ext cx="1648080" cy="303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1">
                <a:solidFill>
                  <a:srgbClr val="1A1A1A"/>
                </a:solidFill>
                <a:latin typeface="Times New Roman" panose="02020603050405020304"/>
              </a:rPr>
              <a:t>Why SHAP: Shapley values assign each prediction to atoms &amp; representations, independently of weights.</a:t>
            </a:r>
            <a:endParaRPr sz="800" b="0" i="1">
              <a:solidFill>
                <a:srgbClr val="1A1A1A"/>
              </a:solidFill>
              <a:latin typeface="Times New Roman" panose="02020603050405020304"/>
            </a:endParaRPr>
          </a:p>
        </p:txBody>
      </p:sp>
      <p:cxnSp>
        <p:nvCxnSpPr>
          <p:cNvPr id="169" name="Connector 168"/>
          <p:cNvCxnSpPr/>
          <p:nvPr/>
        </p:nvCxnSpPr>
        <p:spPr>
          <a:xfrm>
            <a:off x="5367600" y="5535574"/>
            <a:ext cx="151200" cy="0"/>
          </a:xfrm>
          <a:prstGeom prst="line">
            <a:avLst/>
          </a:prstGeom>
          <a:ln w="13970">
            <a:solidFill>
              <a:srgbClr val="009E7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5367600" y="5808561"/>
            <a:ext cx="151200" cy="0"/>
          </a:xfrm>
          <a:prstGeom prst="line">
            <a:avLst/>
          </a:prstGeom>
          <a:ln w="12700">
            <a:solidFill>
              <a:srgbClr val="009E7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264600" y="6475863"/>
            <a:ext cx="7030800" cy="1213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D55E00"/>
                </a:solidFill>
                <a:latin typeface="Times New Roman" panose="02020603050405020304"/>
              </a:rPr>
              <a:t>Asymmetric Loss (ASL) for class imbalance; per-pathogen non-exclusive binary heads (scalable to more pathogens)</a:t>
            </a:r>
            <a:endParaRPr sz="950" b="1" i="0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172" name="Rectangle 171"/>
          <p:cNvSpPr/>
          <p:nvPr/>
        </p:nvSpPr>
        <p:spPr>
          <a:xfrm>
            <a:off x="151200" y="7052170"/>
            <a:ext cx="3553200" cy="3488170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41920" y="7090085"/>
            <a:ext cx="34020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Times New Roman" panose="02020603050405020304"/>
              </a:rPr>
              <a:t>(C)  Benchmarking case study</a:t>
            </a:r>
            <a:endParaRPr sz="13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pic>
        <p:nvPicPr>
          <p:cNvPr id="174" name="Picture 173" descr="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80" y="7294825"/>
            <a:ext cx="1587600" cy="1501429"/>
          </a:xfrm>
          <a:prstGeom prst="rect">
            <a:avLst/>
          </a:prstGeom>
        </p:spPr>
      </p:pic>
      <p:pic>
        <p:nvPicPr>
          <p:cNvPr id="175" name="Picture 174" descr="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600" y="7294825"/>
            <a:ext cx="1572480" cy="1463514"/>
          </a:xfrm>
          <a:prstGeom prst="rect">
            <a:avLst/>
          </a:prstGeom>
        </p:spPr>
      </p:pic>
      <p:pic>
        <p:nvPicPr>
          <p:cNvPr id="176" name="Picture 175" descr="b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400" y="8841753"/>
            <a:ext cx="3250800" cy="1281523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264600" y="10312851"/>
            <a:ext cx="33264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1">
                <a:solidFill>
                  <a:srgbClr val="D55E00"/>
                </a:solidFill>
                <a:latin typeface="Times New Roman" panose="02020603050405020304"/>
              </a:rPr>
              <a:t>Illustrative — values to be replaced with final results</a:t>
            </a:r>
            <a:endParaRPr sz="950" b="1" i="1">
              <a:solidFill>
                <a:srgbClr val="D55E00"/>
              </a:solidFill>
              <a:latin typeface="Times New Roman" panose="02020603050405020304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3855600" y="7052170"/>
            <a:ext cx="3553200" cy="3488170"/>
          </a:xfrm>
          <a:prstGeom prst="rect">
            <a:avLst/>
          </a:prstGeom>
          <a:solidFill>
            <a:srgbClr val="FFFFFF"/>
          </a:solidFill>
          <a:ln w="1778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946320" y="7090085"/>
            <a:ext cx="34020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Times New Roman" panose="02020603050405020304"/>
              </a:rPr>
              <a:t>(D)  Interpretation &amp; molecular docking</a:t>
            </a:r>
            <a:endParaRPr sz="1300" b="1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5254200" y="7309991"/>
            <a:ext cx="2041200" cy="940289"/>
          </a:xfrm>
          <a:prstGeom prst="rect">
            <a:avLst/>
          </a:prstGeom>
          <a:solidFill>
            <a:srgbClr val="FFFFFF"/>
          </a:solidFill>
          <a:ln w="1524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254200" y="7309991"/>
            <a:ext cx="2041200" cy="166825"/>
          </a:xfrm>
          <a:prstGeom prst="rect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292000" y="7309991"/>
            <a:ext cx="1965600" cy="16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Times New Roman" panose="02020603050405020304"/>
              </a:rPr>
              <a:t>Atom-level SHAP</a:t>
            </a:r>
            <a:endParaRPr sz="100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5307120" y="7507148"/>
            <a:ext cx="1935360" cy="727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Times New Roman" panose="02020603050405020304"/>
              </a:rPr>
              <a:t>red atoms push the prediction toward active; blue toward inactive; SHAP exposes the substructure the capsule head relies on.</a:t>
            </a:r>
            <a:endParaRPr sz="950" b="0" i="0">
              <a:solidFill>
                <a:srgbClr val="1A1A1A"/>
              </a:solidFill>
              <a:latin typeface="Times New Roman" panose="02020603050405020304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3969000" y="10274936"/>
            <a:ext cx="3326400" cy="1516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1">
                <a:solidFill>
                  <a:srgbClr val="D55E00"/>
                </a:solidFill>
                <a:latin typeface="Times New Roman" panose="02020603050405020304"/>
              </a:rPr>
              <a:t>Illustrative — final docking poses &amp; attribution to be inserted</a:t>
            </a:r>
            <a:endParaRPr sz="950" b="1" i="1">
              <a:solidFill>
                <a:srgbClr val="D55E00"/>
              </a:solidFill>
              <a:latin typeface="Times New Roman" panose="02020603050405020304"/>
            </a:endParaRPr>
          </a:p>
        </p:txBody>
      </p:sp>
      <p:pic>
        <p:nvPicPr>
          <p:cNvPr id="188" name="图片 187" descr="closeup_case1_clozapine_HTR2A_6A9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3931285" y="7310120"/>
            <a:ext cx="1265555" cy="1093470"/>
          </a:xfrm>
          <a:prstGeom prst="rect">
            <a:avLst/>
          </a:prstGeom>
        </p:spPr>
      </p:pic>
      <p:pic>
        <p:nvPicPr>
          <p:cNvPr id="189" name="Picture 172" descr="docking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6675"/>
          <a:stretch>
            <a:fillRect/>
          </a:stretch>
        </p:blipFill>
        <p:spPr>
          <a:xfrm>
            <a:off x="3515360" y="8358505"/>
            <a:ext cx="4298315" cy="1985010"/>
          </a:xfrm>
          <a:prstGeom prst="rect">
            <a:avLst/>
          </a:prstGeom>
        </p:spPr>
      </p:pic>
      <p:pic>
        <p:nvPicPr>
          <p:cNvPr id="35" name="Picture 34" descr="mol_portrait_tigh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007805" y="1538789"/>
            <a:ext cx="234360" cy="35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75.8,&quot;left&quot;:345.65,&quot;top&quot;:16.4,&quot;width&quot;:716.4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1744</Words>
  <Application>WPS 演示</Application>
  <PresentationFormat>On-screen Show (4:3)</PresentationFormat>
  <Paragraphs>185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小铭同学</cp:lastModifiedBy>
  <cp:revision>7</cp:revision>
  <dcterms:created xsi:type="dcterms:W3CDTF">2013-01-27T09:14:00Z</dcterms:created>
  <dcterms:modified xsi:type="dcterms:W3CDTF">2026-10-21T11:19:32Z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CC983096B39947D79F4193E06A407A82_13</vt:lpwstr>
  </property>
</Properties>
</file>